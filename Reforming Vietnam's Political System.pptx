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</ns0:sldIdLst>
  <ns0:sldSz cx="12192000" cy="6858000" type="screen4x3"/>
  <ns0:notesSz cx="6858000" cy="9144000"/>
  <ns0:embeddedFontLst>
    <ns0:embeddedFont>
      <ns0:font typeface="Inter"/>
      <ns0:bold ns1:id="rIdFont19"/>
      <ns0:regular ns1:id="rIdFont20"/>
    </ns0:embeddedFont>
    <ns0:embeddedFont>
      <ns0:font typeface="Space Grotesk"/>
      <ns0:bold ns1:id="rIdFont21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Font19" Type="http://schemas.openxmlformats.org/officeDocument/2006/relationships/font" Target="fonts/98029efa-4c57-4c2d-8c08-2bb0f2e1fa9e.fntdata" /><ns0:Relationship Id="rIdFont20" Type="http://schemas.openxmlformats.org/officeDocument/2006/relationships/font" Target="fonts/6eaf4fbb-920e-4b74-b06d-90905001f1bd.fntdata" /><ns0:Relationship Id="rIdFont21" Type="http://schemas.openxmlformats.org/officeDocument/2006/relationships/font" Target="fonts/1abf5bd0-2282-486d-ba49-7d9cefb948ae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0" y="4933801"/>
            <a:ext cx="762000" cy="3810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1968" y="1886098"/>
            <a:ext cx="354806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38BDF8"/>
                </a:solidFill>
                <a:latin typeface="Inter"/>
              </a:rPr>
              <a:t>NATIONAL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437" y="2343298"/>
            <a:ext cx="12049125" cy="15085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940"/>
              </a:lnSpc>
            </a:pPr>
            <a:r>
              <a:rPr b="1" sz="5400" i="0" u="none">
                <a:solidFill>
                  <a:srgbClr val="F8FAFC"/>
                </a:solidFill>
                <a:latin typeface="Space Grotesk"/>
              </a:rPr>
              <a:t>Reforming Vietnam's Political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4593" y="4156620"/>
            <a:ext cx="7262812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b="0" sz="1800" i="0" u="none">
                <a:solidFill>
                  <a:srgbClr val="CBD5E1"/>
                </a:solidFill>
                <a:latin typeface="Inter"/>
              </a:rPr>
              <a:t>Necessity, Current Progress, and Our Responsibilities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05100" y="3657600"/>
            <a:ext cx="38100" cy="27622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2700337"/>
            <a:ext cx="1650206" cy="14573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0" i="0" u="none">
                <a:solidFill>
                  <a:srgbClr val="0F172A"/>
                </a:solidFill>
                <a:latin typeface="Space Grotesk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05100" y="2924175"/>
            <a:ext cx="7713464" cy="581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0F172A"/>
                </a:solidFill>
                <a:latin typeface="Space Grotesk"/>
              </a:rPr>
              <a:t>The Necessity of Reform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57500" y="3657600"/>
            <a:ext cx="7193756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64748B"/>
                </a:solidFill>
                <a:latin typeface="Inter"/>
              </a:rPr>
              <a:t>Adapting governance to modern economic demands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143000" y="2566987"/>
            <a:ext cx="3098750" cy="281940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46550" y="2566987"/>
            <a:ext cx="3098750" cy="281940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950100" y="2738437"/>
            <a:ext cx="3098750" cy="2476500"/>
          </a:xfrm>
          <a:prstGeom prst="roundRect">
            <a:avLst>
              <a:gd name="adj" fmla="val 615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" y="3024187"/>
            <a:ext cx="2489150" cy="381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1350" y="3024187"/>
            <a:ext cx="2489150" cy="381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4900" y="3195637"/>
            <a:ext cx="2489150" cy="381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43000" y="762000"/>
            <a:ext cx="1104900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Space Grotesk"/>
              </a:rPr>
              <a:t>Why Reform is Imperative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47800" y="3633787"/>
            <a:ext cx="27136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Space Grotesk"/>
              </a:rPr>
              <a:t>Economic Transition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47800" y="4471987"/>
            <a:ext cx="258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Inter"/>
              </a:rPr>
              <a:t>Adapting to socialist-oriented market demands.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51350" y="3633787"/>
            <a:ext cx="27136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Space Grotesk"/>
              </a:rPr>
              <a:t>Bureaucratic Efficiency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51350" y="4471987"/>
            <a:ext cx="258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Inter"/>
              </a:rPr>
              <a:t>Eradicating red tape and delays.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54900" y="3805237"/>
            <a:ext cx="3267009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Space Grotesk"/>
              </a:rPr>
              <a:t>Global Integration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54900" y="4300537"/>
            <a:ext cx="258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Inter"/>
              </a:rPr>
              <a:t>Meeting global transparency standards.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867025" y="3657600"/>
            <a:ext cx="38100" cy="27622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2700337"/>
            <a:ext cx="1862732" cy="14573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0" i="0" u="none">
                <a:solidFill>
                  <a:srgbClr val="0F172A"/>
                </a:solidFill>
                <a:latin typeface="Space Grotesk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67025" y="2924175"/>
            <a:ext cx="9324975" cy="581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0F172A"/>
                </a:solidFill>
                <a:latin typeface="Space Grotesk"/>
              </a:rPr>
              <a:t>Current Process &amp; Real Examples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9425" y="3657600"/>
            <a:ext cx="8836818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64748B"/>
                </a:solidFill>
                <a:latin typeface="Inter"/>
              </a:rPr>
              <a:t>Transforming institutional structures today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143000" y="2009775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0" y="2009775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01000" y="2009775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762000"/>
            <a:ext cx="1104900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Space Grotesk"/>
              </a:rPr>
              <a:t>The 2025 Administrative Restructuring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0125" y="2009775"/>
            <a:ext cx="89535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0369A1"/>
                </a:solidFill>
                <a:latin typeface="Inter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847975"/>
            <a:ext cx="4000500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Space Grotesk"/>
              </a:rPr>
              <a:t>Provincial Merger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43275"/>
            <a:ext cx="3810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Inter"/>
              </a:rPr>
              <a:t>63 provinces consolidated to 34.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29125" y="2009775"/>
            <a:ext cx="89535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0369A1"/>
                </a:solidFill>
                <a:latin typeface="Inter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847975"/>
            <a:ext cx="4000500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Space Grotesk"/>
              </a:rPr>
              <a:t>Abolishing Districts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343275"/>
            <a:ext cx="31432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Inter"/>
              </a:rPr>
              <a:t>Two-tier province-commune model.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58125" y="2009775"/>
            <a:ext cx="89535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0369A1"/>
                </a:solidFill>
                <a:latin typeface="Inter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2847975"/>
            <a:ext cx="330041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Space Grotesk"/>
              </a:rPr>
              <a:t>Grassroots Empowerment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0" y="3686175"/>
            <a:ext cx="31432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Inter"/>
              </a:rPr>
              <a:t>Expanded commune-level autonomy.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0"/>
            <a:ext cx="5334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4242345"/>
            <a:ext cx="171450" cy="2000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4718595"/>
            <a:ext cx="171450" cy="2000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5194845"/>
            <a:ext cx="171450" cy="2000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2000" y="1467891"/>
            <a:ext cx="66675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E11D48"/>
                </a:solidFill>
                <a:latin typeface="Inter"/>
              </a:rPr>
              <a:t>ANTI-CORRUPTION REFORM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820316"/>
            <a:ext cx="5700712" cy="109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F8FAFC"/>
                </a:solidFill>
                <a:latin typeface="Space Grotesk"/>
              </a:rPr>
              <a:t>The "Blazing Furnace" Campaign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3222277"/>
            <a:ext cx="5429250" cy="586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b="0" sz="1650" i="0" u="none">
                <a:solidFill>
                  <a:srgbClr val="94A3B8"/>
                </a:solidFill>
                <a:latin typeface="Inter"/>
              </a:rPr>
              <a:t>Shift from reactive punishment to proactive institutional design.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5850" y="4189958"/>
            <a:ext cx="634365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E11D48"/>
                </a:solidFill>
                <a:latin typeface="Inter"/>
              </a:rPr>
              <a:t>Strict mandatory asset declarations.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5850" y="4666208"/>
            <a:ext cx="634365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E11D48"/>
                </a:solidFill>
                <a:latin typeface="Inter"/>
              </a:rPr>
              <a:t>Transparent public procurement systems.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5850" y="5142458"/>
            <a:ext cx="634365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E11D48"/>
                </a:solidFill>
                <a:latin typeface="Inter"/>
              </a:rPr>
              <a:t>Public sector salary reforms.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709" y="0"/>
            <a:ext cx="560829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583709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3309" y="2457450"/>
            <a:ext cx="4389090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93309" y="3219450"/>
            <a:ext cx="499869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b="1" sz="3000" i="0" u="none">
                <a:solidFill>
                  <a:srgbClr val="0F172A"/>
                </a:solidFill>
                <a:latin typeface="Space Grotesk"/>
              </a:rPr>
              <a:t>Digital Transformation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93309" y="3905250"/>
            <a:ext cx="448434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475569"/>
                </a:solidFill>
                <a:latin typeface="Inter"/>
              </a:rPr>
              <a:t>Public Administrative Centres utilizing digital signatures.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886075" y="3657600"/>
            <a:ext cx="38100" cy="27622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2700337"/>
            <a:ext cx="1887735" cy="14573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0" i="0" u="none">
                <a:solidFill>
                  <a:srgbClr val="0F172A"/>
                </a:solidFill>
                <a:latin typeface="Space Grotesk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6075" y="2924175"/>
            <a:ext cx="8438554" cy="581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0F172A"/>
                </a:solidFill>
                <a:latin typeface="Space Grotesk"/>
              </a:rPr>
              <a:t>Responsibilities of Our Group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38475" y="3657600"/>
            <a:ext cx="7884318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64748B"/>
                </a:solidFill>
                <a:latin typeface="Inter"/>
              </a:rPr>
              <a:t>The role of youth in national development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5100" y="1857375"/>
            <a:ext cx="914400" cy="9144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8651" y="1857375"/>
            <a:ext cx="914400" cy="9144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2201" y="1857375"/>
            <a:ext cx="914400" cy="914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77988" y="2124075"/>
            <a:ext cx="428625" cy="381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57726" y="2124075"/>
            <a:ext cx="476250" cy="381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08901" y="2124075"/>
            <a:ext cx="381000" cy="381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43000" y="762000"/>
            <a:ext cx="1104900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Space Grotesk"/>
              </a:rPr>
              <a:t>Student Action 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9630" y="3000375"/>
            <a:ext cx="2725340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100" i="0" u="none">
                <a:solidFill>
                  <a:srgbClr val="0F172A"/>
                </a:solidFill>
                <a:latin typeface="Space Grotesk"/>
              </a:rPr>
              <a:t>Academic Focus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5656" y="3495675"/>
            <a:ext cx="387343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475569"/>
                </a:solidFill>
                <a:latin typeface="Inter"/>
              </a:rPr>
              <a:t>Mastering state policy frameworks.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45744" y="3000375"/>
            <a:ext cx="1700212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100" i="0" u="none">
                <a:solidFill>
                  <a:srgbClr val="0F172A"/>
                </a:solidFill>
                <a:latin typeface="Space Grotesk"/>
              </a:rPr>
              <a:t>Civic Duty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59206" y="3495675"/>
            <a:ext cx="387343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475569"/>
                </a:solidFill>
                <a:latin typeface="Inter"/>
              </a:rPr>
              <a:t>Leading grassroots democratic activities.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59309" y="3000375"/>
            <a:ext cx="1480185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100" i="0" u="none">
                <a:solidFill>
                  <a:srgbClr val="0F172A"/>
                </a:solidFill>
                <a:latin typeface="Space Grotesk"/>
              </a:rPr>
              <a:t>Integrity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62756" y="3495675"/>
            <a:ext cx="387343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475569"/>
                </a:solidFill>
                <a:latin typeface="Inter"/>
              </a:rPr>
              <a:t>Cultivating strong moral principles.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" y="762000"/>
            <a:ext cx="110490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Space Grotesk"/>
              </a:rPr>
              <a:t>The Ultimate Goal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71875" y="2573535"/>
            <a:ext cx="5048250" cy="152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2000"/>
              </a:lnSpc>
            </a:pPr>
            <a:r>
              <a:rPr b="1" sz="12000" i="0" u="none">
                <a:solidFill>
                  <a:srgbClr val="0F172A"/>
                </a:solidFill>
                <a:latin typeface="Inter"/>
              </a:rPr>
              <a:t>2045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24125" y="4326135"/>
            <a:ext cx="714375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800" i="0" u="none">
                <a:solidFill>
                  <a:srgbClr val="475569"/>
                </a:solidFill>
                <a:latin typeface="Inter"/>
              </a:rPr>
              <a:t>Vietnam's vision to become a high-income developed nation.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91200" y="4256633"/>
            <a:ext cx="60960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32942" y="2563117"/>
            <a:ext cx="8926115" cy="7314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5759"/>
              </a:lnSpc>
            </a:pPr>
            <a:r>
              <a:rPr b="1" sz="4800" i="0" u="none">
                <a:solidFill>
                  <a:srgbClr val="F8FAFC"/>
                </a:solidFill>
                <a:latin typeface="Space Grotesk"/>
              </a:rPr>
              <a:t>Discussion &amp;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52625" y="3523208"/>
            <a:ext cx="828675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800" i="0" u="none">
                <a:solidFill>
                  <a:srgbClr val="94A3B8"/>
                </a:solidFill>
                <a:latin typeface="Inter"/>
              </a:rPr>
              <a:t>Let's explore the practical impacts of these reforms together.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866775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16287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16287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009650"/>
            <a:ext cx="857250" cy="4762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81175"/>
            <a:ext cx="85725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571500"/>
            <a:ext cx="2150268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00000"/>
                </a:solidFill>
                <a:latin typeface="Space Grotesk"/>
              </a:rPr>
              <a:t>Image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66875" y="1052512"/>
            <a:ext cx="5584031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00000"/>
                </a:solidFill>
                <a:latin typeface="Inter"/>
              </a:rPr>
              <a:t>https://www.realclimate.org/images//rahmstorf_holiday_fire-600x450.webp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66875" y="1252537"/>
            <a:ext cx="2607468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00000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www.realclimate.org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6875" y="1824037"/>
            <a:ext cx="5536406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00000"/>
                </a:solidFill>
                <a:latin typeface="Inter"/>
              </a:rPr>
              <a:t>https://www.cgdev.org/sites/default/files/2025-05/GenerativeAIfigure.png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6875" y="2024062"/>
            <a:ext cx="2178843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00000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www.cgdev.org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